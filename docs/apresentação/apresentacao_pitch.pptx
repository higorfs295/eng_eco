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(0:00-0:20). Apresentar o produto em uma frase: plataforma que integra drone+IoT+visão computacional para fazendas de grãos. Dizer o veredito já na capa: modelo híbrido, paga-se em ~3 anos.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0:20-0:50. Por que agora: três habilitadores. Frase-chave: o risco não é convencer o produtor de que a tecnologia serve — isso já está provado — é executar a venda. Isso prepara o Case.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0:50-1:15. A dor em quatro pontos. O fecho da direita é o gancho para a solução: a perda que o produtor não mede é exatamente o valor que vamos quantificar e capturar.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1:15-1:40. Quatro camadas de valor. Enfatizar o que os concorrentes NÃO fazem: eles cobrem um pedaço; nós integramos e entregamos prescrição, não só mapa bonito.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1:40-2:00. A decisão de engenharia que importa: separar borda e nuvem resolve a conectividade ruim do campo e controla custo. Pipeline de IA disciplinado à direita.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2:00-2:30. O coração financeiro. VPL&gt;0 e TIR muito acima da TMA nos três níveis (14,25/20/30%). Híbrido tem o maior VPL e o menor payback porque a taxa de implantação adianta caixa. DaaS é rejeitado: intensivo em capital, margem fina. Números conferidos em Python e JS.</a:t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Referências reais de custo levantadas na web (2024-2026): drone R$36-41,5k; IoT R$20-120/ha/ano; M2M a partir de R$10/mês; devs R$3-12k+; piloto R$4-8k. São faixas de calibração, não cotações. Checagem de coerência: mapeamento de mercado R$8-40/ha valida a ordem do preço de R$22/ha.</a:t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2:30-2:50. Honestidade: o que já está provado (concorrentes reais) vs. o que falta coletar (caso de fazenda, cotações). Avisar que a projeção de R$40bi é de 2022. Vantagem geográfica em Goiânia.</a:t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2:50-3:00. Fecho. Repetir o veredito (viável, paga em ~3 anos) e a tese de risco (adoção). Pedido claro: piloto. Manter a honestidade analítica — isso ganha pontos de banca.</a:t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f6596237f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f6596237f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2:30-2:50. Honestidade: o que já está provado (concorrentes reais) vs. o que falta coletar (caso de fazenda, cotações). Avisar que a projeção de R$40bi é de 2022. Vantagem geográfica em Goiânia.</a:t>
            </a:r>
            <a:endParaRPr/>
          </a:p>
        </p:txBody>
      </p:sp>
      <p:sp>
        <p:nvSpPr>
          <p:cNvPr id="231" name="Google Shape;231;g3ef6596237f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2C5F2D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241280" y="3291840"/>
            <a:ext cx="4389120" cy="4389120"/>
          </a:xfrm>
          <a:prstGeom prst="ellipse">
            <a:avLst/>
          </a:prstGeom>
          <a:solidFill>
            <a:srgbClr val="97BC62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PROJETO DE ENGENHARIA ECONÔMICA · UFG–EMC ·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60020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Plataforma Inteligente de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Monitoramento Rural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49808" y="34290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C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com IA e Visão Computacional — viabilidade econômica de uma solução B2B para fazendas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4434840"/>
            <a:ext cx="4572000" cy="868680"/>
          </a:xfrm>
          <a:prstGeom prst="roundRect">
            <a:avLst>
              <a:gd fmla="val 12632" name="adj"/>
            </a:avLst>
          </a:prstGeom>
          <a:solidFill>
            <a:srgbClr val="2C5F2D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68680" y="452628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recomendado: Híbrido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VPL R$ 2,</a:t>
            </a:r>
            <a:r>
              <a:rPr lang="en-US" sz="1200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 u="none" cap="none" strike="noStrike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 mi · TIR </a:t>
            </a:r>
            <a:r>
              <a:rPr lang="en-US" sz="1200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r>
              <a:rPr b="0" i="0" lang="en-US" sz="1200" u="none" cap="none" strike="noStrike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% · payback ~3 anos (TMA 20%)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9808" y="5715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9A"/>
                </a:solidFill>
                <a:latin typeface="Calibri"/>
                <a:ea typeface="Calibri"/>
                <a:cs typeface="Calibri"/>
                <a:sym typeface="Calibri"/>
              </a:rPr>
              <a:t>Higor Ferreira Silva  ·  Igor Barbosa Lino  ·  Wallyson Miranda Aguiar   ·   Goiânia, 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0 · CONTEXTUALIZAÇÃO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Por que agora: três habilitadores amadureceram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965960"/>
            <a:ext cx="35661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Conectividade rural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14400" y="338328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Cobertura 4G/5G avança no campo e viabiliza ferramentas digitais antes inviáveis.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361688" y="1965960"/>
            <a:ext cx="35661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36008" y="224028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636008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36008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Custo de drones e sensores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36008" y="338328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Equipamentos mais acessíveis; maquinário novo já sai conectado de fábrica.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083296" y="1965960"/>
            <a:ext cx="35661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357616" y="224028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57616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357616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IA e visão computacional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357616" y="338328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Precisão operacional para detectar pragas, falhas de plantio e estresse hídrico.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4572000"/>
            <a:ext cx="10908792" cy="1097280"/>
          </a:xfrm>
          <a:prstGeom prst="roundRect">
            <a:avLst>
              <a:gd fmla="val 8333" name="adj"/>
            </a:avLst>
          </a:prstGeom>
          <a:solidFill>
            <a:srgbClr val="E9F0E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O risco não é de mercado — é de execução comercial.  </a:t>
            </a:r>
            <a:r>
              <a:rPr b="0" i="0" lang="en-US" sz="15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A demanda já está validada por concorrentes ativos com milhões de hectares (ver Case).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23A3A"/>
                </a:solidFill>
                <a:latin typeface="Calibri"/>
                <a:ea typeface="Calibri"/>
                <a:cs typeface="Calibri"/>
                <a:sym typeface="Calibri"/>
              </a:rPr>
              <a:t>1 · PROBLEMA — A DOR DO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Detecção tardia e ferramentas fragmentadas custam caro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40080" y="2011680"/>
            <a:ext cx="6766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68680" y="2258568"/>
            <a:ext cx="411480" cy="411480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508760" y="2121408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Detecção tardia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508760" y="246888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Pragas, doenças e estresse hídrico comprometem a safra em poucos dias.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0080" y="3035808"/>
            <a:ext cx="6766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68680" y="3282696"/>
            <a:ext cx="411480" cy="411480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508760" y="3145536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Insumo desperdiçado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508760" y="3493008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Aplicação uniforme em vez de taxa variável: gasta-se mais que o necessário.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4059936"/>
            <a:ext cx="6766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68680" y="4306824"/>
            <a:ext cx="411480" cy="411480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508760" y="416966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Dados fragmentados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508760" y="4517136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Satélite, drone, sensores e ERP em ilhas separadas, sem integração.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5084064"/>
            <a:ext cx="676656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68680" y="5330952"/>
            <a:ext cx="411480" cy="411480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508760" y="5193792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Retorno não provado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508760" y="5541264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Sem prova em R$, a adoção trava — o produtor é, com razão, cético.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726680" y="2011680"/>
            <a:ext cx="3822192" cy="4096512"/>
          </a:xfrm>
          <a:prstGeom prst="roundRect">
            <a:avLst>
              <a:gd fmla="val 2871" name="adj"/>
            </a:avLst>
          </a:prstGeom>
          <a:solidFill>
            <a:srgbClr val="2C5F2D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001000" y="2331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A consequência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001000" y="278892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Perda financeira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recorrente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001000" y="4297680"/>
            <a:ext cx="3337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6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E6CC"/>
                </a:solidFill>
                <a:latin typeface="Calibri"/>
                <a:ea typeface="Calibri"/>
                <a:cs typeface="Calibri"/>
                <a:sym typeface="Calibri"/>
              </a:rPr>
              <a:t>…que o produtor sequer mede com precisão. Esse número é a base do valor que a plataforma vende.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6437376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2 · PROPOSTA DE SOLUÇÃO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Uma camada única: do dado à prescrição acionável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914400" y="2304288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14400" y="2304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737360" y="230428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Captura integrada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737360" y="27889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Drone RGB/multiespectral + IoT + satélite no mesmo mapa georreferenciado.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181344" y="2011680"/>
            <a:ext cx="53492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55664" y="2304288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55664" y="2304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278624" y="230428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Cérebro de IA / VC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278624" y="27889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Detecção de pragas e falhas, índices de vegetação, estresse hídrico, previsão por talhão.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0080" y="4005072"/>
            <a:ext cx="53492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737360" y="4297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Decisão acionável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737360" y="4782312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Mapas de prescrição (VRT) para o maquinário + alertas priorizados em R$.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181344" y="4005072"/>
            <a:ext cx="534924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455664" y="429768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455664" y="4297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278624" y="4297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Offline-first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278624" y="4782312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Gateway processa local e sincroniza quando há rede: o produtor nunca fica cego.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Diferencial defensável: integração ponta-a-ponta + tradução em R$ + resiliência de conectividade + base de dados que melhora a cada safra.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3 · METODOLOGIA — TÉCNICO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Arquitetura em camadas: borda + nuvem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80" y="1965960"/>
            <a:ext cx="7406640" cy="76809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22960" y="2121408"/>
            <a:ext cx="2286000" cy="457200"/>
          </a:xfrm>
          <a:prstGeom prst="roundRect">
            <a:avLst>
              <a:gd fmla="val 12000" name="adj"/>
            </a:avLst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822960" y="212140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Campo / Edge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291840" y="2057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Drone + IoT + satélite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291840" y="2377440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Redundância de fonte de 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1737360" y="2734056"/>
            <a:ext cx="0" cy="118872"/>
          </a:xfrm>
          <a:prstGeom prst="straightConnector1">
            <a:avLst/>
          </a:prstGeom>
          <a:noFill/>
          <a:ln cap="flat" cmpd="sng" w="19050">
            <a:solidFill>
              <a:srgbClr val="6B72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7"/>
          <p:cNvSpPr/>
          <p:nvPr/>
        </p:nvSpPr>
        <p:spPr>
          <a:xfrm>
            <a:off x="640080" y="2852928"/>
            <a:ext cx="7406640" cy="76809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22960" y="3008376"/>
            <a:ext cx="2286000" cy="457200"/>
          </a:xfrm>
          <a:prstGeom prst="roundRect">
            <a:avLst>
              <a:gd fmla="val 12000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22960" y="300837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Borda / Gateway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91840" y="29443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Buffer offline · inferência leve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291840" y="3264408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Resolve conectividade; corta custo de nuvem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1737360" y="3621024"/>
            <a:ext cx="0" cy="118872"/>
          </a:xfrm>
          <a:prstGeom prst="straightConnector1">
            <a:avLst/>
          </a:prstGeom>
          <a:noFill/>
          <a:ln cap="flat" cmpd="sng" w="19050">
            <a:solidFill>
              <a:srgbClr val="6B72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7"/>
          <p:cNvSpPr/>
          <p:nvPr/>
        </p:nvSpPr>
        <p:spPr>
          <a:xfrm>
            <a:off x="640080" y="3739896"/>
            <a:ext cx="7406640" cy="76809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22960" y="3895344"/>
            <a:ext cx="2286000" cy="457200"/>
          </a:xfrm>
          <a:prstGeom prst="roundRect">
            <a:avLst>
              <a:gd fmla="val 12000" name="adj"/>
            </a:avLst>
          </a:prstGeom>
          <a:solidFill>
            <a:srgbClr val="3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22960" y="389534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Nuvem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91840" y="383133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Ortomosaico · treino · VC pesada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291840" y="4151376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Escala elástica de GPU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1737360" y="4507992"/>
            <a:ext cx="0" cy="118872"/>
          </a:xfrm>
          <a:prstGeom prst="straightConnector1">
            <a:avLst/>
          </a:prstGeom>
          <a:noFill/>
          <a:ln cap="flat" cmpd="sng" w="19050">
            <a:solidFill>
              <a:srgbClr val="6B72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7"/>
          <p:cNvSpPr/>
          <p:nvPr/>
        </p:nvSpPr>
        <p:spPr>
          <a:xfrm>
            <a:off x="640080" y="4626864"/>
            <a:ext cx="7406640" cy="76809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22960" y="4782312"/>
            <a:ext cx="2286000" cy="457200"/>
          </a:xfrm>
          <a:prstGeom prst="roundRect">
            <a:avLst>
              <a:gd fmla="val 12000" name="adj"/>
            </a:avLst>
          </a:prstGeom>
          <a:solidFill>
            <a:srgbClr val="5C6B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22960" y="47823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291840" y="471830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Geoespacial · séries · imagens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291840" y="5038344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Cada dado no banco certo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1737360" y="5394960"/>
            <a:ext cx="0" cy="118872"/>
          </a:xfrm>
          <a:prstGeom prst="straightConnector1">
            <a:avLst/>
          </a:prstGeom>
          <a:noFill/>
          <a:ln cap="flat" cmpd="sng" w="19050">
            <a:solidFill>
              <a:srgbClr val="6B72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7"/>
          <p:cNvSpPr/>
          <p:nvPr/>
        </p:nvSpPr>
        <p:spPr>
          <a:xfrm>
            <a:off x="640080" y="5513832"/>
            <a:ext cx="7406640" cy="76809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22960" y="5669280"/>
            <a:ext cx="2286000" cy="457200"/>
          </a:xfrm>
          <a:prstGeom prst="roundRect">
            <a:avLst>
              <a:gd fmla="val 12000" name="adj"/>
            </a:avLst>
          </a:prstGeom>
          <a:solidFill>
            <a:srgbClr val="C894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22960" y="56692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Aplicação / Integração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291840" y="56052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Dashboard · alertas · VRT · ERP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91840" y="5925312"/>
            <a:ext cx="4617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Onde o dado vira decisão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275320" y="1965960"/>
            <a:ext cx="3273552" cy="4279392"/>
          </a:xfrm>
          <a:prstGeom prst="roundRect">
            <a:avLst>
              <a:gd fmla="val 3352" name="adj"/>
            </a:avLst>
          </a:prstGeom>
          <a:solidFill>
            <a:srgbClr val="E9F0E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503920" y="21945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Pipeline de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503920" y="2697480"/>
            <a:ext cx="2834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Dados: limpeza → normalização → validação</a:t>
            </a:r>
            <a:b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Treino 70% · validação 15% · teste 15%</a:t>
            </a:r>
            <a:b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Métricas: acurácia, precisão, recall, F1, mAP</a:t>
            </a:r>
            <a:br>
              <a:rPr b="0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Modelos melhoram a cada safra = ativo (efeito de rede de dados)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3 · METODOLOGIA — FINANCEIRO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Viabilidade e monetização: Modelo Híbrido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399710" y="2176335"/>
            <a:ext cx="2194500" cy="1280100"/>
          </a:xfrm>
          <a:prstGeom prst="roundRect">
            <a:avLst>
              <a:gd fmla="val 7143" name="adj"/>
            </a:avLst>
          </a:prstGeom>
          <a:solidFill>
            <a:srgbClr val="F4F6F1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491150" y="2359215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R$ </a:t>
            </a:r>
            <a:r>
              <a:rPr b="1" lang="en-US" sz="2300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2,1</a:t>
            </a:r>
            <a:r>
              <a:rPr b="1" i="0" lang="en-US" sz="23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 mi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491150" y="295357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VPL @ TMA 20%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731430" y="2176335"/>
            <a:ext cx="2194500" cy="1280100"/>
          </a:xfrm>
          <a:prstGeom prst="roundRect">
            <a:avLst>
              <a:gd fmla="val 7143" name="adj"/>
            </a:avLst>
          </a:prstGeom>
          <a:solidFill>
            <a:srgbClr val="F4F6F1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822870" y="2359215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69</a:t>
            </a:r>
            <a:r>
              <a:rPr b="1" i="0" lang="en-US" sz="23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822870" y="295357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TIR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399710" y="3593655"/>
            <a:ext cx="2194500" cy="1280100"/>
          </a:xfrm>
          <a:prstGeom prst="roundRect">
            <a:avLst>
              <a:gd fmla="val 7143" name="adj"/>
            </a:avLst>
          </a:prstGeom>
          <a:solidFill>
            <a:srgbClr val="F4F6F1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491150" y="3776535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3,</a:t>
            </a:r>
            <a:r>
              <a:rPr b="1" lang="en-US" sz="2300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23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 anos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491150" y="437089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Payback descontado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731430" y="3593655"/>
            <a:ext cx="2194500" cy="1280100"/>
          </a:xfrm>
          <a:prstGeom prst="roundRect">
            <a:avLst>
              <a:gd fmla="val 7143" name="adj"/>
            </a:avLst>
          </a:prstGeom>
          <a:solidFill>
            <a:srgbClr val="F4F6F1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822870" y="3776535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6,0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822870" y="4370895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IBC (&gt;1 cria valor)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399710" y="5056695"/>
            <a:ext cx="4544700" cy="960000"/>
          </a:xfrm>
          <a:prstGeom prst="roundRect">
            <a:avLst>
              <a:gd fmla="val 9524" name="adj"/>
            </a:avLst>
          </a:prstGeom>
          <a:solidFill>
            <a:srgbClr val="FBF3E0"/>
          </a:solidFill>
          <a:ln cap="flat" cmpd="sng" w="12700">
            <a:solidFill>
              <a:srgbClr val="C894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582590" y="5056695"/>
            <a:ext cx="4206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TMA ancorada na Selic 14,25% a.a. </a:t>
            </a:r>
            <a:r>
              <a:rPr b="0" i="0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(Copom 17/06/2026); estressada a 20% e 30%.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3 · METODOLOGIA — CAPEX &amp; OPEX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Referências de mercado para custos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1965960"/>
            <a:ext cx="5349240" cy="2788920"/>
          </a:xfrm>
          <a:prstGeom prst="roundRect">
            <a:avLst>
              <a:gd fmla="val 3279" name="adj"/>
            </a:avLst>
          </a:prstGeom>
          <a:solidFill>
            <a:srgbClr val="E9F0E2"/>
          </a:solidFill>
          <a:ln cap="flat" cmpd="sng" w="1522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68680" y="21305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CAPEX (investimento)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68680" y="2560320"/>
            <a:ext cx="5029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Drone mapeamento multiespectral (RTK):  R$ 36–41,5 mil</a:t>
            </a:r>
            <a:b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Camada IoT (sensores), por ha/ano:  R$ 20–120/ha</a:t>
            </a:r>
            <a:b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Estações IoT em geral: venda sob orçamento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199632" y="1965960"/>
            <a:ext cx="5349240" cy="2788920"/>
          </a:xfrm>
          <a:prstGeom prst="roundRect">
            <a:avLst>
              <a:gd fmla="val 3279" name="adj"/>
            </a:avLst>
          </a:prstGeom>
          <a:solidFill>
            <a:srgbClr val="F4F6F1"/>
          </a:solidFill>
          <a:ln cap="flat" cmpd="sng" w="15225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428232" y="21305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OPEX (recorrente)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28232" y="2560320"/>
            <a:ext cx="5029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Conectividade M2M:  a partir de R$ 10/mês por chip</a:t>
            </a:r>
            <a:b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Devs (júnior–sênior):  R$ 3–12 mil+/mês (base CLT)</a:t>
            </a:r>
            <a:b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Piloto de drone agrícola:  R$ 4–8 mil/mês</a:t>
            </a:r>
            <a:b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Custo real ao empregador ≈ 1,7–2× o salário-base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fmla="val 8696" name="adj"/>
            </a:avLst>
          </a:prstGeom>
          <a:solidFill>
            <a:srgbClr val="FBF3E0"/>
          </a:solidFill>
          <a:ln cap="flat" cmpd="sng" w="12700">
            <a:solidFill>
              <a:srgbClr val="C8941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68680" y="4983480"/>
            <a:ext cx="10469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Coerência:  </a:t>
            </a: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o serviço de mapeamento por drone no mercado custa R$ 8–40/ha — mesma ordem do preço de R$ 22/ha/ano do modelo. </a:t>
            </a:r>
            <a:r>
              <a:rPr b="0" i="1" lang="en-US" sz="125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Faixas de calibração (varejo/setoriais 2024–2026), não cotações fechadas.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4 · CASE REAL —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Demanda validada</a:t>
            </a:r>
            <a:r>
              <a:rPr b="1" lang="en-US" sz="3200">
                <a:solidFill>
                  <a:srgbClr val="1E2B22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304630" y="1755660"/>
            <a:ext cx="5349300" cy="2541900"/>
          </a:xfrm>
          <a:prstGeom prst="roundRect">
            <a:avLst>
              <a:gd fmla="val 3597" name="adj"/>
            </a:avLst>
          </a:prstGeom>
          <a:solidFill>
            <a:srgbClr val="E9F0E2"/>
          </a:solidFill>
          <a:ln cap="flat" cmpd="sng" w="1522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533230" y="19385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VERIFICADO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533230" y="2276868"/>
            <a:ext cx="507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Perfect Flight: ~25–27 mi ha digitalizados (2022)</a:t>
            </a:r>
            <a:b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SIMA: +8 mi ha monitorados, 8 países (2025)</a:t>
            </a:r>
            <a:b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SLC Agrícola: −90% de defensivos com precisão (2025)</a:t>
            </a:r>
            <a:b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B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Grupo José Pessoa/MS: IA p/ variedade por talhão (2025)</a:t>
            </a:r>
            <a:br>
              <a:rPr b="0" i="0" lang="en-US" sz="125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→ demanda e adoção em grãos já reais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E2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14400" y="480060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737360" y="4617720"/>
            <a:ext cx="9509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Mercado (atual):  </a:t>
            </a:r>
            <a:r>
              <a:rPr b="0" i="0" lang="en-US" sz="1300" u="none" cap="none" strike="noStrike">
                <a:solidFill>
                  <a:srgbClr val="1E2B22"/>
                </a:solidFill>
                <a:latin typeface="Calibri"/>
                <a:ea typeface="Calibri"/>
                <a:cs typeface="Calibri"/>
                <a:sym typeface="Calibri"/>
              </a:rPr>
              <a:t>drones agrícolas ≈ US$ 2,41 bi em 2025 (Mordor/O Tempo). A projeção antiga de "R$ 40 bi até 2026" é de 2022 — não usar como dado atual. </a:t>
            </a:r>
            <a:r>
              <a:rPr b="0" i="1" lang="en-US" sz="13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Estudo em pastagem (UNOESC) mostra que o ganho não é automático — medir em piloto.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41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-2103120" y="3474720"/>
            <a:ext cx="5943600" cy="5943600"/>
          </a:xfrm>
          <a:prstGeom prst="ellipse">
            <a:avLst/>
          </a:prstGeom>
          <a:solidFill>
            <a:srgbClr val="2C5F2D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9509760" y="-2194560"/>
            <a:ext cx="5029200" cy="5029200"/>
          </a:xfrm>
          <a:prstGeom prst="ellipse">
            <a:avLst/>
          </a:prstGeom>
          <a:solidFill>
            <a:srgbClr val="97BC62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5 · CONCLUSÕES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Viável — e a aposta é sobre adoção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41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41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463040" y="224028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Viabilidade  —  </a:t>
            </a:r>
            <a:r>
              <a:rPr b="0" i="0" lang="en-US" sz="1650" u="none" cap="none" strike="noStrike">
                <a:solidFill>
                  <a:srgbClr val="E6EFE0"/>
                </a:solidFill>
                <a:latin typeface="Calibri"/>
                <a:ea typeface="Calibri"/>
                <a:cs typeface="Calibri"/>
                <a:sym typeface="Calibri"/>
              </a:rPr>
              <a:t>VPL &gt; 0 e TIR ≫ TMA a 14,25%, 20% e 30%. Payback descontado ~3 anos.</a:t>
            </a:r>
            <a:r>
              <a:rPr b="0" i="0" lang="en-US" sz="1650" u="none" cap="none" strike="noStrike">
                <a:solidFill>
                  <a:srgbClr val="E6EFE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financeiramente escalável e altamente rentável.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41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41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463040" y="320040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O risco nº 1  —  </a:t>
            </a:r>
            <a:r>
              <a:rPr b="0" i="0" lang="en-US" sz="1650" u="none" cap="none" strike="noStrike">
                <a:solidFill>
                  <a:srgbClr val="E6EFE0"/>
                </a:solidFill>
                <a:latin typeface="Calibri"/>
                <a:ea typeface="Calibri"/>
                <a:cs typeface="Calibri"/>
                <a:sym typeface="Calibri"/>
              </a:rPr>
              <a:t>Se a adoção ficar ~40% abaixo e os custos não cederem, não se paga no horizonte.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41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41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463040" y="4160520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97BC62"/>
                </a:solidFill>
                <a:latin typeface="Calibri"/>
                <a:ea typeface="Calibri"/>
                <a:cs typeface="Calibri"/>
                <a:sym typeface="Calibri"/>
              </a:rPr>
              <a:t>O pedido  —  </a:t>
            </a:r>
            <a:r>
              <a:rPr b="0" i="0" lang="en-US" sz="1650" u="none" cap="none" strike="noStrike">
                <a:solidFill>
                  <a:srgbClr val="E6EFE0"/>
                </a:solidFill>
                <a:latin typeface="Calibri"/>
                <a:ea typeface="Calibri"/>
                <a:cs typeface="Calibri"/>
                <a:sym typeface="Calibri"/>
              </a:rPr>
              <a:t>Piloto em fazenda real para provar o ROI em R$ e recalibrar as premissas.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77240" y="5440680"/>
            <a:ext cx="6583680" cy="868680"/>
          </a:xfrm>
          <a:prstGeom prst="roundRect">
            <a:avLst>
              <a:gd fmla="val 12632" name="adj"/>
            </a:avLst>
          </a:prstGeom>
          <a:solidFill>
            <a:srgbClr val="C8941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960120" y="5440680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C06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3A2C06"/>
                </a:solidFill>
                <a:latin typeface="Calibri"/>
                <a:ea typeface="Calibri"/>
                <a:cs typeface="Calibri"/>
                <a:sym typeface="Calibri"/>
              </a:rPr>
              <a:t>"Os números são premissas conferidas, não dados verificados — a defesa depende do caso real."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7680960" y="544068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6437376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64008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b="1" i="0" lang="en-US" sz="13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en-US" sz="13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14400" y="2772800"/>
            <a:ext cx="9673800" cy="28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400"/>
              <a:buFont typeface="Cambria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IMEA. Instituto Mato-grossense de Economia Agropecuária (Dados de COT, 2026).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400"/>
              <a:buFont typeface="Cambria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CONAB. Perspectivas de Safra (Produtividade soja, 2026).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400"/>
              <a:buFont typeface="Cambria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CEPEA/ESALQ. Indicador Financeiro da Soja (Junho 2026).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400"/>
              <a:buFont typeface="Cambria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Embrapa Soja. Consórcio Antiferrugem e Impactos na Produção.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57200" y="6437376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Plataforma de Monitoramento Rural  ·  IA · Drones · IoT  ·  UFG–EMC · Eng. Econômica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338560" y="643737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6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