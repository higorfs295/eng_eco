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VPL (TMA 20%)</c:v>
                </c:pt>
              </c:strCache>
            </c:strRef>
          </c:tx>
          <c:spPr>
            <a:solidFill>
              <a:srgbClr val="3E6B8A"/>
            </a:solidFill>
            <a:effectLst/>
          </c:spPr>
          <c:invertIfNegative val="0"/>
          <c:dLbls>
            <c:numFmt formatCode="R$ 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E6B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23A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A) SaaS</c:v>
                  </c:pt>
                  <c:pt idx="1">
                    <c:v>B) DaaS</c:v>
                  </c:pt>
                  <c:pt idx="2">
                    <c:v>C) Híbrido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2788869</c:v>
                </c:pt>
                <c:pt idx="1">
                  <c:v>431690</c:v>
                </c:pt>
                <c:pt idx="2">
                  <c:v>2937891</c:v>
                </c:pt>
              </c:numCache>
            </c:numRef>
          </c:val>
        </c:ser>
        <c:dLbls>
          <c:numFmt formatCode="R$ 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(0:00-0:20). Apresentar o produto em uma frase: plataforma que integra drone+IoT+visão computacional para fazendas de grãos. Dizer o veredito já na capa: modelo híbrido, paga-se em ~3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0:20-0:50. Por que agora: três habilitadores. Frase-chave: o risco não é convencer o produtor de que a tecnologia serve — isso já está provado — é executar a venda. Isso prepara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0:50-1:15. A dor em quatro pontos. O fecho da direita é o gancho para a solução: a perda que o produtor não mede é exatamente o valor que vamos quantificar e capturar.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1:15-1:40. Quatro camadas de valor. Enfatizar o que os concorrentes NÃO fazem: eles cobrem um pedaço; nós integramos e entregamos prescrição, não só mapa bonito.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1:40-2:00. A decisão de engenharia que importa: separar borda e nuvem resolve a conectividade ruim do campo e controla custo. Pipeline de IA disciplinado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2:00-2:30. O coração financeiro. VPL&gt;0 e TIR muito acima da TMA nos três níveis (14,25/20/30%). Híbrido tem o maior VPL e o menor payback porque a taxa de implantação adianta caixa. DaaS é rejeitado: intensivo em capital, margem fina. Números conferidos em Python e 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 reais de custo levantadas na web (2024-2026): drone R$36-41,5k; IoT R$20-120/ha/ano; M2M a partir de R$10/mês; devs R$3-12k+; piloto R$4-8k. São faixas de calibração, não cotações. Checagem de coerência: mapeamento de mercado R$8-40/ha valida a ordem do preço de R$22/ha.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2:30-2:50. Honestidade: o que já está provado (concorrentes reais) vs. o que falta coletar (caso de fazenda, cotações). Avisar que a projeção de R$40bi é de 2022. Vantagem geográfica em Goiânia.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2:50-3:00. Fecho. Repetir o veredito (viável, paga em ~3 anos) e a tese de risco (adoção). Pedido claro: piloto. Manter a honestidade analítica — isso ganha pontos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943600" cy="5943600"/>
          </a:xfrm>
          <a:prstGeom prst="ellipse">
            <a:avLst/>
          </a:prstGeom>
          <a:solidFill>
            <a:srgbClr val="2C5F2D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389120" cy="4389120"/>
          </a:xfrm>
          <a:prstGeom prst="ellipse">
            <a:avLst/>
          </a:prstGeom>
          <a:solidFill>
            <a:srgbClr val="97BC6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DE ENGENHARIA ECONÔMICA · UFG–EMC ·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Inteligente de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 Rural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49808" y="34290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8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IA e Visão Computacional — viabilidade econômica de uma solução B2B para fazendas de grãos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4572000" cy="868680"/>
          </a:xfrm>
          <a:prstGeom prst="roundRect">
            <a:avLst>
              <a:gd name="adj" fmla="val 12632"/>
            </a:avLst>
          </a:prstGeom>
          <a:solidFill>
            <a:srgbClr val="2C5F2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45262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recomendado: Híbrido
</a:t>
            </a:r>
            <a:pPr indent="0" marL="0">
              <a:buNone/>
            </a:pPr>
            <a:r>
              <a:rPr lang="en-US" sz="1200" dirty="0">
                <a:solidFill>
                  <a:srgbClr val="D8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R$ 2,94 mi · TIR 85,6% · payback ~3 anos (TMA 20%)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5715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Higor Ferreira Silva  ·  Igor Barbosa Lino  ·  Wallyson Miranda Aguiar   ·   Goiânia, GO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· CONTEXTUALIZAÇÃO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agora: três habilitadores amadureceram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Conectividade rural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4G/5G avança no campo e viabiliza ferramentas digitais antes inviáveis.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1688" y="1965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36008" y="22402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636008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6008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de drones e sensores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33832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 mais acessíveis; maquinário novo já sai conectado de fábrica.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3296" y="1965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2402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57616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 visão computacional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57616" y="33832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operacional para detectar pragas, falhas de plantio e estresse hídrico.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572000"/>
            <a:ext cx="10908792" cy="1097280"/>
          </a:xfrm>
          <a:prstGeom prst="roundRect">
            <a:avLst>
              <a:gd name="adj" fmla="val 8333"/>
            </a:avLst>
          </a:prstGeom>
          <a:solidFill>
            <a:srgbClr val="E9F0E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5720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não é de mercado — é de execução comercial.  </a:t>
            </a:r>
            <a:pPr indent="0" marL="0">
              <a:buNone/>
            </a:pPr>
            <a:r>
              <a:rPr lang="en-US" sz="15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demanda já está validada por concorrentes ativos com milhões de hectares (ver Case).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2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PROBLEMA — A DOR DO CLIENTE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Detecção tardia e ferramentas fragmentadas custam caro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766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58568"/>
            <a:ext cx="411480" cy="41148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6" name="Text 4"/>
          <p:cNvSpPr/>
          <p:nvPr/>
        </p:nvSpPr>
        <p:spPr>
          <a:xfrm>
            <a:off x="1508760" y="21214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Detecção tardia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4688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Pragas, doenças e estresse hídrico comprometem a safra em poucos dias.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35808"/>
            <a:ext cx="6766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82696"/>
            <a:ext cx="411480" cy="41148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314553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Insumo desperdiçado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08760" y="349300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uniforme em vez de taxa variável: gasta-se mais que o necessário.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6766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4306824"/>
            <a:ext cx="411480" cy="41148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1508760" y="41696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fragmentados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08760" y="4517136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Satélite, drone, sensores e ERP em ilhas separadas, sem integração.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84064"/>
            <a:ext cx="6766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330952"/>
            <a:ext cx="411480" cy="41148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8" name="Text 16"/>
          <p:cNvSpPr/>
          <p:nvPr/>
        </p:nvSpPr>
        <p:spPr>
          <a:xfrm>
            <a:off x="1508760" y="519379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Retorno não provado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554126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prova em R$, a adoção trava — o produtor é, com razão, cético.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26680" y="2011680"/>
            <a:ext cx="3822192" cy="4096512"/>
          </a:xfrm>
          <a:prstGeom prst="roundRect">
            <a:avLst>
              <a:gd name="adj" fmla="val 2871"/>
            </a:avLst>
          </a:prstGeom>
          <a:solidFill>
            <a:srgbClr val="2C5F2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01000" y="2331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01000" y="27889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financeira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recorrente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001000" y="429768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E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…que o produtor sequer mede com precisão. Esse número é a base do valor que a plataforma vende.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PROPOSTA DE SOLUÇÃO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camada única: do dado à prescrição acionável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04288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Captura integrada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788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RGB/multiespectral + IoT + satélite no mesmo mapa georreferenciado.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81344" y="20116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55664" y="2304288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6455664" y="23042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78624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Cérebro de IA / VC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78624" y="2788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pragas e falhas, índices de vegetação, estresse hídrico, previsão por talhão.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005072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9768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 acionável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7823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 de prescrição (VRT) para o maquinário + alertas priorizados em R$.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81344" y="4005072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55664" y="429768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1" name="Text 19"/>
          <p:cNvSpPr/>
          <p:nvPr/>
        </p:nvSpPr>
        <p:spPr>
          <a:xfrm>
            <a:off x="6455664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78624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Offline-first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78624" y="478231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processa local e sincroniza quando há rede: o produtor nunca fica cego.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defensável: integração ponta-a-ponta + tradução em R$ + resiliência de conectividade + base de dados que melhora a cada safra.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METODOLOGIA — TÉCNICO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em camadas: borda + nuvem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740664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2140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214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 / Edge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+ IoT + satélite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291840" y="237744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de fonte de dado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737360" y="2734056"/>
            <a:ext cx="0" cy="118872"/>
          </a:xfrm>
          <a:prstGeom prst="line">
            <a:avLst/>
          </a:prstGeom>
          <a:noFill/>
          <a:ln w="19050">
            <a:solidFill>
              <a:srgbClr val="6B726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852928"/>
            <a:ext cx="740664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3008376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00837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Borda / Gateway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944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offline · inferência leve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91840" y="3264408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conectividade; corta custo de nuvem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737360" y="3621024"/>
            <a:ext cx="0" cy="118872"/>
          </a:xfrm>
          <a:prstGeom prst="line">
            <a:avLst/>
          </a:prstGeom>
          <a:noFill/>
          <a:ln w="19050">
            <a:solidFill>
              <a:srgbClr val="6B726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3739896"/>
            <a:ext cx="740664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895344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3E6B8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8953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Nuvem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3831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Ortomosaico · treino · VC pesada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91840" y="4151376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elástica de GPU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737360" y="4507992"/>
            <a:ext cx="0" cy="118872"/>
          </a:xfrm>
          <a:prstGeom prst="line">
            <a:avLst/>
          </a:prstGeom>
          <a:noFill/>
          <a:ln w="19050">
            <a:solidFill>
              <a:srgbClr val="6B72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4626864"/>
            <a:ext cx="740664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782312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5C6B5A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7823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91840" y="4718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Geoespacial · séries · imagens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291840" y="5038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dado no banco certo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737360" y="5394960"/>
            <a:ext cx="0" cy="118872"/>
          </a:xfrm>
          <a:prstGeom prst="line">
            <a:avLst/>
          </a:prstGeom>
          <a:noFill/>
          <a:ln w="19050">
            <a:solidFill>
              <a:srgbClr val="6B72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0080" y="5513832"/>
            <a:ext cx="7406640" cy="76809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22960" y="56692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8941F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669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/ Integração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91840" y="5605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alertas · VRT · ERP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291840" y="5925312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dado vira decisão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75320" y="1965960"/>
            <a:ext cx="3273552" cy="4279392"/>
          </a:xfrm>
          <a:prstGeom prst="roundRect">
            <a:avLst>
              <a:gd name="adj" fmla="val 3352"/>
            </a:avLst>
          </a:prstGeom>
          <a:solidFill>
            <a:srgbClr val="E9F0E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0" y="21945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de IA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2697480"/>
            <a:ext cx="28346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limpeza → normalização → validação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70% · validação 15% · teste 15%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Métricas: acurácia, precisão, recall, F1, mAP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melhoram a cada safra = ativo (efeito de rede de dados)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METODOLOGIA — FINANCEIRO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modelos de receita; o Híbrido vence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064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por modelo (TMA recomendada 20% a.a.)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995160" y="196596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4F6F1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86600" y="2148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R$ 2,94 mi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08660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@ TMA 20%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9326880" y="196596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4F6F1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418320" y="2148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85,6%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941832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995160" y="33832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4F6F1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08660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3,07 anos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708660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descontado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9326880" y="338328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F4F6F1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41832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8,73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94183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 (&gt;1 cria valor)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995160" y="4846320"/>
            <a:ext cx="4544568" cy="960120"/>
          </a:xfrm>
          <a:prstGeom prst="roundRect">
            <a:avLst>
              <a:gd name="adj" fmla="val 9524"/>
            </a:avLst>
          </a:prstGeom>
          <a:solidFill>
            <a:srgbClr val="FBF3E0"/>
          </a:solidFill>
          <a:ln w="12700">
            <a:solidFill>
              <a:srgbClr val="C8941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78040" y="48463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TMA ancorada na Selic 14,25% a.a. </a:t>
            </a:r>
            <a:pPr indent="0" marL="0">
              <a:buNone/>
            </a:pPr>
            <a:r>
              <a:rPr lang="en-US" sz="12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(Copom 17/06/2026); estressada a 20% e 30%.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METODOLOGIA — CAPEX &amp; OPEX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de mercado para custos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2788920"/>
          </a:xfrm>
          <a:prstGeom prst="roundRect">
            <a:avLst>
              <a:gd name="adj" fmla="val 3279"/>
            </a:avLst>
          </a:prstGeom>
          <a:solidFill>
            <a:srgbClr val="E9F0E2"/>
          </a:solidFill>
          <a:ln w="15240">
            <a:solidFill>
              <a:srgbClr val="2C5F2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305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(investimento)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mapeamento multiespectral (RTK):  R$ 36–41,5 mil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IoT (sensores), por ha/ano:  R$ 20–120/ha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IoT em geral: venda sob orçamento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965960"/>
            <a:ext cx="5349240" cy="2788920"/>
          </a:xfrm>
          <a:prstGeom prst="roundRect">
            <a:avLst>
              <a:gd name="adj" fmla="val 3279"/>
            </a:avLst>
          </a:prstGeom>
          <a:solidFill>
            <a:srgbClr val="F4F6F1"/>
          </a:solidFill>
          <a:ln w="1524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21305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(recorrente)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28232" y="256032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Conectividade M2M:  a partir de R$ 10/mês por chip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(júnior–sênior):  R$ 3–12 mil+/mês (base CLT)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drone agrícola:  R$ 4–8 mil/mês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real ao empregador ≈ 1,7–2× o salário-base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FBF3E0"/>
          </a:solidFill>
          <a:ln w="12700">
            <a:solidFill>
              <a:srgbClr val="C8941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983480"/>
            <a:ext cx="10469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Coerência:  </a:t>
            </a:r>
            <a:pPr indent="0" marL="0"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serviço de mapeamento por drone no mercado custa R$ 8–40/ha — mesma ordem do preço de R$ 22/ha/ano do modelo. </a:t>
            </a:r>
            <a:pPr indent="0" marL="0">
              <a:buNone/>
            </a:pPr>
            <a:r>
              <a:rPr lang="en-US" sz="1250" i="1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calibração (varejo/setoriais 2024–2026), não cotações fechadas.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CASE REAL — DADOS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validada; premissas a recalibrar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2542032"/>
          </a:xfrm>
          <a:prstGeom prst="roundRect">
            <a:avLst>
              <a:gd name="adj" fmla="val 3597"/>
            </a:avLst>
          </a:prstGeom>
          <a:solidFill>
            <a:srgbClr val="E9F0E2"/>
          </a:solidFill>
          <a:ln w="15240">
            <a:solidFill>
              <a:srgbClr val="2C5F2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48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5074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Flight: ~25–27 mi ha digitalizados (2022)
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SIMA: +8 mi ha monitorados, 8 países (2025)
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SLC Agrícola: −90% de defensivos com precisão (2025)
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José Pessoa/MS: IA p/ variedade por talhão (2025)
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demanda e adoção em grãos já reais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965960"/>
            <a:ext cx="5349240" cy="2542032"/>
          </a:xfrm>
          <a:prstGeom prst="roundRect">
            <a:avLst>
              <a:gd name="adj" fmla="val 3597"/>
            </a:avLst>
          </a:prstGeom>
          <a:solidFill>
            <a:srgbClr val="FBF3E0"/>
          </a:solidFill>
          <a:ln w="15240">
            <a:solidFill>
              <a:srgbClr val="C8941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2148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6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COLETAR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28232" y="2542032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1 fazenda do CO: perda/safra, insumos, R$/ano economizado
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Cotações fechadas de fornecedores (já há faixas de referência — slide anterior)
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mercado sempre com fonte e ano (ver Mordor, abaixo)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526280"/>
            <a:ext cx="1090879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5D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80060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4617720"/>
            <a:ext cx="9509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(atual):  </a:t>
            </a:r>
            <a:pPr indent="0" marL="0">
              <a:buNone/>
            </a:pPr>
            <a:r>
              <a:rPr lang="en-US" sz="1300" dirty="0">
                <a:solidFill>
                  <a:srgbClr val="1E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agrícolas ≈ US$ 2,41 bi em 2025 (Mordor/O Tempo). A projeção antiga de "R$ 40 bi até 2026" é de 2022 — não usar como dado atual. </a:t>
            </a:r>
            <a:pPr indent="0" marL="0">
              <a:buNone/>
            </a:pPr>
            <a:r>
              <a:rPr lang="en-US" sz="1300" i="1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em pastagem (UNOESC) mostra que o ganho não é automático — medir em piloto.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03120" y="3474720"/>
            <a:ext cx="5943600" cy="5943600"/>
          </a:xfrm>
          <a:prstGeom prst="ellipse">
            <a:avLst/>
          </a:prstGeom>
          <a:solidFill>
            <a:srgbClr val="2C5F2D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2194560"/>
            <a:ext cx="5029200" cy="5029200"/>
          </a:xfrm>
          <a:prstGeom prst="ellipse">
            <a:avLst/>
          </a:prstGeom>
          <a:solidFill>
            <a:srgbClr val="97BC6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CONCLUSÕES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Viável — e a aposta é sobre adoção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402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 —  </a:t>
            </a:r>
            <a:pPr indent="0" marL="0">
              <a:buNone/>
            </a:pPr>
            <a:r>
              <a:rPr lang="en-US" sz="1650" dirty="0">
                <a:solidFill>
                  <a:srgbClr val="E6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&gt; 0 e TIR ≫ TMA a 14,25%, 20% e 30%. Payback descontado ~3 anos.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324612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46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32004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nº 1  —  </a:t>
            </a:r>
            <a:pPr indent="0" marL="0">
              <a:buNone/>
            </a:pPr>
            <a:r>
              <a:rPr lang="en-US" sz="1650" dirty="0">
                <a:solidFill>
                  <a:srgbClr val="E6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adoção ficar ~40% abaixo e os custos não cederem, não se paga no horizonte.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416052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 —  </a:t>
            </a:r>
            <a:pPr indent="0" marL="0">
              <a:buNone/>
            </a:pPr>
            <a:r>
              <a:rPr lang="en-US" sz="1650" dirty="0">
                <a:solidFill>
                  <a:srgbClr val="E6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em fazenda real para provar o ROI em R$ e recalibrar as premissas.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5440680"/>
            <a:ext cx="6583680" cy="868680"/>
          </a:xfrm>
          <a:prstGeom prst="roundRect">
            <a:avLst>
              <a:gd name="adj" fmla="val 12632"/>
            </a:avLst>
          </a:prstGeom>
          <a:solidFill>
            <a:srgbClr val="C8941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544068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A2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números são premissas conferidas, não dados verificados — a defesa depende do caso real."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80960" y="544068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7200" y="643737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Monitoramento Rural  ·  IA · Drones · IoT  ·  UFG–EMC · Eng. Econômica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Plataforma de Monitoramento Rural - Pitch</dc:title>
  <dc:subject>PptxGenJS Presentation</dc:subject>
  <dc:creator>UFG/EMC - Engenharia Economica</dc:creator>
  <cp:lastModifiedBy>UFG/EMC - Engenharia Economica</cp:lastModifiedBy>
  <cp:revision>1</cp:revision>
  <dcterms:created xsi:type="dcterms:W3CDTF">2026-06-24T04:50:14Z</dcterms:created>
  <dcterms:modified xsi:type="dcterms:W3CDTF">2026-06-24T04:50:14Z</dcterms:modified>
</cp:coreProperties>
</file>